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5" r:id="rId6"/>
    <p:sldId id="260" r:id="rId7"/>
    <p:sldId id="266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59"/>
            <p14:sldId id="265"/>
            <p14:sldId id="260"/>
            <p14:sldId id="266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9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596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864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3"/>
                </a:solidFill>
              </a:rPr>
              <a:t>PRE-IDEATHON TEMPLATE</a:t>
            </a:r>
            <a:endParaRPr lang="en-US" sz="1200" dirty="0"/>
          </a:p>
        </p:txBody>
      </p:sp>
      <p:sp>
        <p:nvSpPr>
          <p:cNvPr id="12" name="Event Title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534923" y="2327564"/>
            <a:ext cx="2474283" cy="827116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HUSTLERS &amp; ENERGY,MOBILTY AND SMART INFRASTRUCTURE</a:t>
            </a:r>
            <a:endParaRPr lang="en-US" sz="1300" dirty="0"/>
          </a:p>
        </p:txBody>
      </p:sp>
      <p:sp>
        <p:nvSpPr>
          <p:cNvPr id="15" name="Cover Fields"/>
          <p:cNvSpPr txBox="1"/>
          <p:nvPr/>
        </p:nvSpPr>
        <p:spPr>
          <a:xfrm>
            <a:off x="548640" y="3703320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Name –</a:t>
            </a:r>
            <a:r>
              <a:rPr lang="en-US" dirty="0">
                <a:solidFill>
                  <a:schemeClr val="bg1"/>
                </a:solidFill>
              </a:rPr>
              <a:t>HUSTLERS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Team Members –RK </a:t>
            </a:r>
            <a:r>
              <a:rPr lang="en-US" sz="1800" dirty="0" err="1">
                <a:solidFill>
                  <a:schemeClr val="bg1"/>
                </a:solidFill>
              </a:rPr>
              <a:t>Pranesh,Gautham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S,Nithiswar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MR,Pragadeesh</a:t>
            </a:r>
            <a:r>
              <a:rPr lang="en-US" sz="1800" dirty="0">
                <a:solidFill>
                  <a:schemeClr val="bg1"/>
                </a:solidFill>
              </a:rPr>
              <a:t> NM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Selected Domain –</a:t>
            </a:r>
            <a:r>
              <a:rPr lang="en-US" sz="1800" dirty="0" err="1">
                <a:solidFill>
                  <a:schemeClr val="bg1"/>
                </a:solidFill>
              </a:rPr>
              <a:t>Energy,mobility</a:t>
            </a:r>
            <a:r>
              <a:rPr lang="en-US" sz="1800" dirty="0">
                <a:solidFill>
                  <a:schemeClr val="bg1"/>
                </a:solidFill>
              </a:rPr>
              <a:t> and smart </a:t>
            </a:r>
            <a:r>
              <a:rPr lang="en-US" sz="1800" dirty="0" err="1">
                <a:solidFill>
                  <a:schemeClr val="bg1"/>
                </a:solidFill>
              </a:rPr>
              <a:t>infrastucture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Problem Statement –Provision of efficient electricity in rural regions through hybrid microgrid model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Hustlers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Explain the problem in your domain simply, in your own words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1858975"/>
            <a:ext cx="10424160" cy="4450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exactly needs to be solved?</a:t>
            </a:r>
          </a:p>
          <a:p>
            <a:pPr lvl="0"/>
            <a:r>
              <a:rPr lang="en-IN" sz="1200" b="1" dirty="0"/>
              <a:t>Unreliable electricity supply</a:t>
            </a:r>
            <a:r>
              <a:rPr lang="en-IN" sz="1200" dirty="0"/>
              <a:t> and frequent power outages in villages </a:t>
            </a:r>
          </a:p>
          <a:p>
            <a:pPr lvl="0"/>
            <a:r>
              <a:rPr lang="en-IN" sz="1200" b="1" dirty="0"/>
              <a:t>Dependence on diesel generators</a:t>
            </a:r>
            <a:r>
              <a:rPr lang="en-IN" sz="1200" dirty="0"/>
              <a:t> during power cuts </a:t>
            </a:r>
          </a:p>
          <a:p>
            <a:pPr lvl="0"/>
            <a:r>
              <a:rPr lang="en-IN" sz="1200" b="1" dirty="0"/>
              <a:t>High electricity and fuel costs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Insufficient power for agriculture, businesses, schools, and healthcare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Underutilization of local renewable resources</a:t>
            </a:r>
            <a:r>
              <a:rPr lang="en-IN" sz="1200" dirty="0"/>
              <a:t> such as solar, hydro, and biogas </a:t>
            </a:r>
          </a:p>
          <a:p>
            <a:pPr lvl="0"/>
            <a:r>
              <a:rPr lang="en-IN" sz="1200" b="1" dirty="0"/>
              <a:t>Lack of a reliable, integrated local energy system</a:t>
            </a:r>
            <a:r>
              <a:rPr lang="en-IN" sz="1200" dirty="0"/>
              <a:t> </a:t>
            </a:r>
          </a:p>
          <a:p>
            <a:pPr lvl="0"/>
            <a:r>
              <a:rPr lang="en-IN" sz="1200" b="1" dirty="0"/>
              <a:t>Energy losses and inefficiency</a:t>
            </a:r>
            <a:r>
              <a:rPr lang="en-IN" sz="1200" dirty="0"/>
              <a:t> in the existing supply system </a:t>
            </a:r>
          </a:p>
          <a:p>
            <a:r>
              <a:rPr lang="en-IN" sz="1200" b="1" dirty="0"/>
              <a:t>Core problem:</a:t>
            </a:r>
            <a:endParaRPr lang="en-IN" sz="1200" dirty="0"/>
          </a:p>
          <a:p>
            <a:r>
              <a:rPr lang="en-IN" sz="1200" b="1" dirty="0"/>
              <a:t>Villages need a reliable, affordable, and sustainable electricity supply that can meet both household and productive energy needs.</a:t>
            </a:r>
            <a:endParaRPr lang="en-IN" sz="12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Why is it important right now?</a:t>
            </a:r>
          </a:p>
          <a:p>
            <a:pPr lvl="0"/>
            <a:r>
              <a:rPr lang="en-IN" sz="1100" b="1" dirty="0"/>
              <a:t>Growing electricity demand</a:t>
            </a:r>
            <a:r>
              <a:rPr lang="en-IN" sz="1100" dirty="0"/>
              <a:t> in rural areas due to increasing use of appliances, irrigation, and small industries. </a:t>
            </a:r>
          </a:p>
          <a:p>
            <a:pPr lvl="0"/>
            <a:r>
              <a:rPr lang="en-IN" sz="1100" b="1" dirty="0"/>
              <a:t>Frequent power interruptions</a:t>
            </a:r>
            <a:r>
              <a:rPr lang="en-IN" sz="1100" dirty="0"/>
              <a:t> can disrupt education, healthcare, agriculture, and businesses. </a:t>
            </a:r>
          </a:p>
          <a:p>
            <a:pPr lvl="0"/>
            <a:r>
              <a:rPr lang="en-IN" sz="1100" b="1" dirty="0"/>
              <a:t>Rising fuel costs</a:t>
            </a:r>
            <a:r>
              <a:rPr lang="en-IN" sz="1100" dirty="0"/>
              <a:t> make dependence on diesel generators expensive. </a:t>
            </a:r>
          </a:p>
          <a:p>
            <a:pPr lvl="0"/>
            <a:r>
              <a:rPr lang="en-IN" sz="1100" b="1" dirty="0"/>
              <a:t>Renewable energy is becoming more accessible</a:t>
            </a:r>
            <a:r>
              <a:rPr lang="en-IN" sz="1100" dirty="0"/>
              <a:t>, making village-scale microgrids increasingly practical. </a:t>
            </a:r>
          </a:p>
          <a:p>
            <a:pPr lvl="0"/>
            <a:r>
              <a:rPr lang="en-IN" sz="1100" b="1" dirty="0"/>
              <a:t>Climate change</a:t>
            </a:r>
            <a:r>
              <a:rPr lang="en-IN" sz="1100" dirty="0"/>
              <a:t> increases the need for cleaner and more resilient energy systems. </a:t>
            </a:r>
          </a:p>
          <a:p>
            <a:pPr lvl="0"/>
            <a:r>
              <a:rPr lang="en-IN" sz="1100" b="1" dirty="0"/>
              <a:t>Local resources such as solar, water, and organic waste</a:t>
            </a:r>
            <a:r>
              <a:rPr lang="en-IN" sz="1100" dirty="0"/>
              <a:t> are often available but underutilized. </a:t>
            </a:r>
          </a:p>
          <a:p>
            <a:pPr lvl="0"/>
            <a:r>
              <a:rPr lang="en-IN" sz="1100" b="1" dirty="0"/>
              <a:t>Rural economic development</a:t>
            </a:r>
            <a:r>
              <a:rPr lang="en-IN" sz="1100" dirty="0"/>
              <a:t> requires reliable electricity for new businesses, digital services, and productive activities. </a:t>
            </a:r>
          </a:p>
          <a:p>
            <a:r>
              <a:rPr lang="en-IN" sz="1100" b="1" dirty="0"/>
              <a:t>Key message:</a:t>
            </a:r>
            <a:endParaRPr lang="en-IN" sz="1100" dirty="0"/>
          </a:p>
          <a:p>
            <a:r>
              <a:rPr lang="en-IN" sz="1100" b="1" dirty="0"/>
              <a:t>“The need for reliable rural electricity is growing, while renewable technologies now provide an opportunity to build cleaner and more resilient local power systems.”</a:t>
            </a:r>
            <a:endParaRPr lang="en-IN" sz="11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84048"/>
            <a:ext cx="2606040" cy="758952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99872"/>
            <a:ext cx="630936" cy="505968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77088"/>
            <a:ext cx="365760" cy="337312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438098"/>
            <a:ext cx="1627632" cy="6408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Hustlers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70355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30705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Target users, stakeholders, beneficiaries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920169" y="2076688"/>
            <a:ext cx="9150858" cy="4618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Primary </a:t>
            </a:r>
            <a:r>
              <a:rPr lang="en-US" dirty="0"/>
              <a:t>Users</a:t>
            </a:r>
            <a:r>
              <a:rPr lang="en-US" sz="1800" dirty="0">
                <a:solidFill>
                  <a:schemeClr val="tx1"/>
                </a:solidFill>
              </a:rPr>
              <a:t> / </a:t>
            </a:r>
            <a:r>
              <a:rPr lang="en-US" dirty="0"/>
              <a:t>T</a:t>
            </a:r>
            <a:r>
              <a:rPr lang="en-US" sz="1800" dirty="0">
                <a:solidFill>
                  <a:schemeClr val="tx1"/>
                </a:solidFill>
              </a:rPr>
              <a:t>arget group</a:t>
            </a:r>
          </a:p>
          <a:p>
            <a:pPr lvl="0"/>
            <a:r>
              <a:rPr lang="en-IN" sz="1200" dirty="0"/>
              <a:t>Village Residents &amp; Farmers </a:t>
            </a:r>
          </a:p>
          <a:p>
            <a:pPr lvl="0"/>
            <a:r>
              <a:rPr lang="en-IN" sz="1200" dirty="0"/>
              <a:t>Village Panchayat / Local Government </a:t>
            </a:r>
          </a:p>
          <a:p>
            <a:pPr lvl="0"/>
            <a:r>
              <a:rPr lang="en-IN" sz="1200" dirty="0"/>
              <a:t>Electricity Utility (DISCOM) </a:t>
            </a:r>
          </a:p>
          <a:p>
            <a:pPr lvl="0"/>
            <a:r>
              <a:rPr lang="en-IN" sz="1200" dirty="0"/>
              <a:t>Government &amp; Funding Agencies </a:t>
            </a:r>
          </a:p>
          <a:p>
            <a:pPr lvl="0"/>
            <a:r>
              <a:rPr lang="en-IN" sz="1200" dirty="0"/>
              <a:t>Technology &amp; EPC Companies </a:t>
            </a:r>
          </a:p>
          <a:p>
            <a:pPr lvl="0"/>
            <a:r>
              <a:rPr lang="en-IN" sz="1200" dirty="0"/>
              <a:t>Local Operators &amp; Maintenance Teams </a:t>
            </a:r>
          </a:p>
          <a:p>
            <a:pPr lvl="0"/>
            <a:r>
              <a:rPr lang="en-IN" sz="1200" dirty="0"/>
              <a:t>Local Businesses &amp; Institutions </a:t>
            </a:r>
          </a:p>
          <a:p>
            <a:pPr lvl="0"/>
            <a:r>
              <a:rPr lang="en-IN" sz="1200" dirty="0"/>
              <a:t>Banks &amp; Financial Institutions </a:t>
            </a:r>
          </a:p>
          <a:p>
            <a:pPr lvl="0"/>
            <a:r>
              <a:rPr lang="en-IN" sz="1200" dirty="0"/>
              <a:t>NGOs / Community Organizations </a:t>
            </a:r>
          </a:p>
          <a:p>
            <a:pPr lvl="0"/>
            <a:r>
              <a:rPr lang="en-IN" sz="1200" dirty="0"/>
              <a:t>Environmental &amp; Regulatory Authorities 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Secondary stakeholders</a:t>
            </a:r>
          </a:p>
          <a:p>
            <a:pPr lvl="0"/>
            <a:r>
              <a:rPr lang="en-IN" sz="1000" dirty="0"/>
              <a:t>NGOs &amp; Community Organizations </a:t>
            </a:r>
          </a:p>
          <a:p>
            <a:pPr lvl="0"/>
            <a:r>
              <a:rPr lang="en-IN" sz="1000" dirty="0"/>
              <a:t>Banks &amp; Financial Institutions </a:t>
            </a:r>
          </a:p>
          <a:p>
            <a:pPr lvl="0"/>
            <a:r>
              <a:rPr lang="en-IN" sz="1000" dirty="0"/>
              <a:t>Equipment Suppliers </a:t>
            </a:r>
          </a:p>
          <a:p>
            <a:pPr lvl="0"/>
            <a:r>
              <a:rPr lang="en-IN" sz="1000" dirty="0"/>
              <a:t>Research &amp; Academic Institutions </a:t>
            </a:r>
          </a:p>
          <a:p>
            <a:pPr lvl="0"/>
            <a:r>
              <a:rPr lang="en-IN" sz="1000" dirty="0"/>
              <a:t>Environmental Agencies </a:t>
            </a:r>
          </a:p>
          <a:p>
            <a:pPr lvl="0"/>
            <a:r>
              <a:rPr lang="en-IN" sz="1000" dirty="0"/>
              <a:t>Regulatory Authorities </a:t>
            </a:r>
          </a:p>
          <a:p>
            <a:pPr lvl="0"/>
            <a:r>
              <a:rPr lang="en-IN" sz="1000" dirty="0"/>
              <a:t>Insurance Companies </a:t>
            </a:r>
          </a:p>
          <a:p>
            <a:pPr lvl="0"/>
            <a:r>
              <a:rPr lang="en-IN" sz="1000" dirty="0"/>
              <a:t>Waste Management Organizations </a:t>
            </a:r>
          </a:p>
          <a:p>
            <a:pPr lvl="0"/>
            <a:r>
              <a:rPr lang="en-IN" sz="1000" dirty="0"/>
              <a:t>Training &amp; Skill Development Organizations </a:t>
            </a:r>
          </a:p>
          <a:p>
            <a:pPr lvl="0"/>
            <a:r>
              <a:rPr lang="en-IN" sz="1000" dirty="0"/>
              <a:t>Local Transport &amp; Logistics Providers</a:t>
            </a:r>
            <a:br>
              <a:rPr lang="en-IN" sz="1000" dirty="0"/>
            </a:br>
            <a:br>
              <a:rPr lang="en-US" sz="1000" dirty="0"/>
            </a:br>
            <a:endParaRPr lang="en-I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93BE7F-7ABC-3EA2-EEBB-A9264618C112}"/>
              </a:ext>
            </a:extLst>
          </p:cNvPr>
          <p:cNvSpPr txBox="1"/>
          <p:nvPr/>
        </p:nvSpPr>
        <p:spPr>
          <a:xfrm>
            <a:off x="5474534" y="2053828"/>
            <a:ext cx="3997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Who benefits if the problem is solved?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FBC410-27AB-D8DF-A588-F890AB09B330}"/>
              </a:ext>
            </a:extLst>
          </p:cNvPr>
          <p:cNvSpPr txBox="1"/>
          <p:nvPr/>
        </p:nvSpPr>
        <p:spPr>
          <a:xfrm>
            <a:off x="5747656" y="2495849"/>
            <a:ext cx="693305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b="1" dirty="0"/>
              <a:t>Village Residents &amp; Families</a:t>
            </a:r>
            <a:r>
              <a:rPr lang="en-IN" sz="12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b="1" dirty="0"/>
              <a:t>Farmers</a:t>
            </a:r>
            <a:r>
              <a:rPr lang="en-IN" sz="12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b="1" dirty="0"/>
              <a:t>Students &amp; Schools</a:t>
            </a:r>
            <a:r>
              <a:rPr lang="en-IN" sz="12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b="1" dirty="0"/>
              <a:t>Healthcare Centres &amp; Patients</a:t>
            </a:r>
            <a:r>
              <a:rPr lang="en-IN" sz="12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b="1" dirty="0"/>
              <a:t>Local Businesses &amp; Entrepreneurs</a:t>
            </a:r>
            <a:r>
              <a:rPr lang="en-IN" sz="12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b="1" dirty="0"/>
              <a:t>Village Panchayat / Local Government</a:t>
            </a:r>
            <a:r>
              <a:rPr lang="en-IN" sz="12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b="1" dirty="0"/>
              <a:t>Micro &amp; Small Industries</a:t>
            </a:r>
            <a:r>
              <a:rPr lang="en-IN" sz="12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b="1" dirty="0"/>
              <a:t>Agricultural &amp; Dairy Cooperatives</a:t>
            </a:r>
            <a:r>
              <a:rPr lang="en-IN" sz="12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b="1" dirty="0"/>
              <a:t>Environment &amp; Local Ecosystem</a:t>
            </a:r>
            <a:r>
              <a:rPr lang="en-IN" sz="12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b="1" dirty="0"/>
              <a:t>Future Generations</a:t>
            </a:r>
            <a:r>
              <a:rPr lang="en-IN" sz="1200" dirty="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Hustlers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Lead Icon Hex"/>
          <p:cNvSpPr/>
          <p:nvPr/>
        </p:nvSpPr>
        <p:spPr>
          <a:xfrm>
            <a:off x="582277" y="129479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17" y="138623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16548" y="1217719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Existing scenario, background and how things work today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253092" y="1690725"/>
            <a:ext cx="11005915" cy="4097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Existing scenario and background</a:t>
            </a:r>
          </a:p>
          <a:p>
            <a:r>
              <a:rPr lang="en-IN" sz="1600" dirty="0"/>
              <a:t>Many villages face unreliable electricity, frequent power cuts, high energy costs, and limited access to dependable power for agriculture, education, healthcare, and small businesses.</a:t>
            </a:r>
          </a:p>
          <a:p>
            <a:r>
              <a:rPr lang="en-IN" sz="1600" dirty="0"/>
              <a:t>At the same time, villages may have locally available renewable energy resources, such as sunlight, flowing water, and organic waste from cattle and agricultural activities.</a:t>
            </a:r>
          </a:p>
          <a:p>
            <a:r>
              <a:rPr lang="en-IN" sz="1600" dirty="0"/>
              <a:t>The proposed solution is to develop an integrated renewable energy microgrid that combines solar, micro-hydro, biogas, biodiesel backup, battery storage, and a smart control system to provide a more reliable and sustainable electricity supply.</a:t>
            </a:r>
          </a:p>
          <a:p>
            <a:endParaRPr lang="en-IN" sz="1600" dirty="0"/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Relevant data or facts (if available)</a:t>
            </a:r>
          </a:p>
          <a:p>
            <a:r>
              <a:rPr lang="en-IN" sz="1400" dirty="0"/>
              <a:t>Problem: Rural villages faced unreliable electricity, affecting households and small businesses.</a:t>
            </a:r>
          </a:p>
          <a:p>
            <a:r>
              <a:rPr lang="en-IN" sz="1400" dirty="0"/>
              <a:t>Solution: Founded in 2007, Husk Power Systems used rice husks to generate electricity. It later introduced solar-biomass hybrid microgrids.</a:t>
            </a:r>
          </a:p>
          <a:p>
            <a:r>
              <a:rPr lang="en-IN" sz="1400" dirty="0"/>
              <a:t>Impact: The project improved rural electricity access, utilized agricultural waste, and supported local businesses.</a:t>
            </a:r>
          </a:p>
          <a:p>
            <a:r>
              <a:rPr lang="en-IN" sz="1400" dirty="0"/>
              <a:t>Connection to Our Project: Our proposed microgrid combines solar, hydro, biogas, battery storage, and biodiesel backup to provide more reliable village electricity.</a:t>
            </a:r>
          </a:p>
          <a:p>
            <a:r>
              <a:rPr lang="en-IN" sz="1400" dirty="0"/>
              <a:t>Key Learning: Local resources can be transformed into reliable energy to support rural development.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4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400" dirty="0"/>
              <a:t>Current workflow, step by step</a:t>
            </a:r>
          </a:p>
          <a:p>
            <a:endParaRPr lang="en-IN" sz="1400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>
              <a:solidFill>
                <a:schemeClr val="tx1"/>
              </a:solidFill>
            </a:endParaRPr>
          </a:p>
          <a:p>
            <a:endParaRPr lang="en-IN" sz="800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FC709B-631B-88C1-86AC-80653FB2150C}"/>
              </a:ext>
            </a:extLst>
          </p:cNvPr>
          <p:cNvSpPr txBox="1"/>
          <p:nvPr/>
        </p:nvSpPr>
        <p:spPr>
          <a:xfrm>
            <a:off x="122466" y="106135"/>
            <a:ext cx="3649435" cy="1179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dirty="0"/>
              <a:t>Current workflow, step by step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AD9AC9-E00B-403D-2D33-89C78F74E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344" y="812346"/>
            <a:ext cx="7117427" cy="523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22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Your Team Name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097280" y="144135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Main difficulties, bottlenecks, root causes and consequences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603504" y="1980589"/>
            <a:ext cx="10707298" cy="3579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400" dirty="0"/>
              <a:t>Unpredictable Energy: Solar and hydro power depend on weather and water availability, while biogas and biomass need a steady fuel supply.</a:t>
            </a:r>
          </a:p>
          <a:p>
            <a:pPr lvl="0"/>
            <a:r>
              <a:rPr lang="en-IN" sz="1400" dirty="0"/>
              <a:t>Low Piezoelectric Output: Piezoelectric generators produce very little electricity, making them suitable mainly for sensors and small devices.</a:t>
            </a:r>
          </a:p>
          <a:p>
            <a:pPr lvl="0"/>
            <a:r>
              <a:rPr lang="en-IN" sz="1400" dirty="0"/>
              <a:t>High Costs: Batteries, generators, inverters, and installation require significant initial investment.</a:t>
            </a:r>
          </a:p>
          <a:p>
            <a:pPr lvl="0"/>
            <a:r>
              <a:rPr lang="en-IN" sz="1400" dirty="0"/>
              <a:t>Technical Challenges: Integrating different energy sources requires smart control systems, skilled operators, and regular maintenance.</a:t>
            </a:r>
          </a:p>
          <a:p>
            <a:pPr lvl="0"/>
            <a:r>
              <a:rPr lang="en-IN" sz="1400" dirty="0"/>
              <a:t>Possible Solutions: Combine suitable renewable sources with battery storage, efficient energy management, local training, and careful planning.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Root causes behind them</a:t>
            </a:r>
          </a:p>
          <a:p>
            <a:pPr lvl="0"/>
            <a:r>
              <a:rPr lang="en-IN" sz="1400" dirty="0"/>
              <a:t>Resource Dependence: Solar energy varies with sunlight, hydro depends on water flow, and biogas/biomass require available organic waste.</a:t>
            </a:r>
          </a:p>
          <a:p>
            <a:pPr lvl="0"/>
            <a:r>
              <a:rPr lang="en-IN" sz="1400" dirty="0"/>
              <a:t>Low Energy Conversion: Piezoelectric generators produce limited electricity because everyday pressure and vibrations contain relatively little usable energy.</a:t>
            </a:r>
          </a:p>
          <a:p>
            <a:pPr lvl="0"/>
            <a:r>
              <a:rPr lang="en-IN" sz="1400" dirty="0"/>
              <a:t>High Initial Investment: Renewable generators, batteries, inverters, and distribution networks require substantial funding.</a:t>
            </a:r>
          </a:p>
          <a:p>
            <a:pPr lvl="0"/>
            <a:r>
              <a:rPr lang="en-IN" sz="1400" dirty="0"/>
              <a:t>Technical Limitations: Poor system design, limited storage capacity, and inadequate energy management can cause unreliable power supply.</a:t>
            </a:r>
          </a:p>
          <a:p>
            <a:pPr lvl="0"/>
            <a:r>
              <a:rPr lang="en-IN" sz="1400" dirty="0"/>
              <a:t>Infrastructure and Skills Gaps: Lack of trained technicians, maintenance facilities, reliable fuel supply chains, and community awareness can hinder successful operation.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372F2-2B2E-5D4F-3081-583192980F46}"/>
              </a:ext>
            </a:extLst>
          </p:cNvPr>
          <p:cNvSpPr>
            <a:spLocks noGrp="1"/>
          </p:cNvSpPr>
          <p:nvPr>
            <p:ph type="title" idx="108"/>
          </p:nvPr>
        </p:nvSpPr>
        <p:spPr>
          <a:xfrm>
            <a:off x="204107" y="422910"/>
            <a:ext cx="6376307" cy="398418"/>
          </a:xfrm>
        </p:spPr>
        <p:txBody>
          <a:bodyPr/>
          <a:lstStyle/>
          <a:p>
            <a:pPr lvl="0" algn="l"/>
            <a:r>
              <a:rPr lang="en-US" sz="1800" dirty="0">
                <a:solidFill>
                  <a:schemeClr val="accent2"/>
                </a:solidFill>
              </a:rPr>
              <a:t>Consequences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sz="1800" dirty="0">
                <a:solidFill>
                  <a:schemeClr val="accent2"/>
                </a:solidFill>
              </a:rPr>
              <a:t>of leaving them unsolved</a:t>
            </a:r>
            <a:br>
              <a:rPr lang="en-US" sz="1800" dirty="0">
                <a:solidFill>
                  <a:schemeClr val="accent2"/>
                </a:solidFill>
              </a:rPr>
            </a:br>
            <a:r>
              <a:rPr lang="en-IN" sz="1400" dirty="0"/>
              <a:t>Unreliable Electricity: Frequent power cuts affect homes, schools, and healthcare centres.</a:t>
            </a:r>
            <a:br>
              <a:rPr lang="en-IN" sz="1400" dirty="0"/>
            </a:br>
            <a:r>
              <a:rPr lang="en-IN" sz="1400" dirty="0"/>
              <a:t>Economic Losses: Farmers and local businesses experience reduced productivity and income.</a:t>
            </a:r>
            <a:br>
              <a:rPr lang="en-IN" sz="1400" dirty="0"/>
            </a:br>
            <a:r>
              <a:rPr lang="en-IN" sz="1400" dirty="0"/>
              <a:t>Higher Energy Costs: Continued dependence on diesel and other fuels increases operating expenses.</a:t>
            </a:r>
            <a:br>
              <a:rPr lang="en-IN" sz="1400" dirty="0"/>
            </a:br>
            <a:r>
              <a:rPr lang="en-IN" sz="1400" dirty="0"/>
              <a:t>Limited Renewable Energy Use: Local resources remain underutilized, increasing pollution and environmental impacts.</a:t>
            </a:r>
            <a:br>
              <a:rPr lang="en-IN" sz="1400" dirty="0"/>
            </a:br>
            <a:r>
              <a:rPr lang="en-IN" sz="1400" dirty="0"/>
              <a:t>Slower Rural Development: Poor electricity access limits education, healthcare, job opportunities, and overall village development.</a:t>
            </a:r>
            <a:br>
              <a:rPr lang="en-IN" sz="1400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8178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5"/>
                </a:solidFill>
              </a:rPr>
              <a:t>TEAM</a:t>
            </a:r>
          </a:p>
          <a:p>
            <a:pPr marL="0" indent="0">
              <a:buNone/>
            </a:pPr>
            <a:r>
              <a:rPr lang="en-US" sz="1100" b="1" kern="0" spc="300" dirty="0">
                <a:solidFill>
                  <a:schemeClr val="accent5"/>
                </a:solidFill>
              </a:rPr>
              <a:t>HUSTLERS</a:t>
            </a:r>
            <a:endParaRPr lang="en-US" sz="1100" b="1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already being done, and where it falls short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603504" y="2179014"/>
            <a:ext cx="10579608" cy="1462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EXISTING SYSTEMS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  <a:r>
              <a:rPr lang="en-IN" sz="1200" b="1" dirty="0"/>
              <a:t>Integrated Solar–Micro-Hydro–Biogas Microgrid - </a:t>
            </a:r>
            <a:r>
              <a:rPr lang="en-IN" sz="1200" dirty="0"/>
              <a:t>Researchers studied an off-grid system combining solar PV, micro-hydro, biogas, batteries, and diesel backup for five villages in Uttarakhand, India.                                                                                                                       </a:t>
            </a:r>
            <a:r>
              <a:rPr lang="en-IN" sz="1200" dirty="0">
                <a:solidFill>
                  <a:schemeClr val="bg1"/>
                </a:solidFill>
              </a:rPr>
              <a:t>b</a:t>
            </a:r>
            <a:r>
              <a:rPr lang="en-IN" sz="1200" dirty="0"/>
              <a:t> 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1200" b="1" dirty="0"/>
              <a:t>Tata Power Solar–Bio-CNG Microgrid, Paska, Uttar Pradesh </a:t>
            </a:r>
            <a:r>
              <a:rPr lang="en-IN" sz="1400" b="1" dirty="0"/>
              <a:t>- </a:t>
            </a:r>
            <a:r>
              <a:rPr lang="en-IN" sz="1200" dirty="0"/>
              <a:t>Announced in April 2026, this initiative combines solar power with bio-CNG- based energy solutions for rural electricity needs.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Limitations of each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IN" sz="1200" b="1" dirty="0"/>
              <a:t>Limited technology diversity: </a:t>
            </a:r>
            <a:r>
              <a:rPr lang="en-IN" sz="1200" dirty="0"/>
              <a:t>The announced solution focuses on solar and bio-CNG rather than integrating multiple locally suitable sources, such as micro-hydro.</a:t>
            </a:r>
            <a:endParaRPr lang="en-US" sz="1200" dirty="0">
              <a:solidFill>
                <a:schemeClr val="tx1"/>
              </a:solidFill>
            </a:endParaRP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IN" sz="1200" b="1" dirty="0"/>
              <a:t>Site-specific resource requirements: </a:t>
            </a:r>
            <a:r>
              <a:rPr lang="en-IN" sz="1200" dirty="0"/>
              <a:t>The proposed hydrokinetic turbine depends on a substantial, continuously flowing stream; its results cannot automatically be applied to a low-flow well-water pipe.</a:t>
            </a:r>
            <a:endParaRPr lang="en-US" sz="12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gap they leave open (Key Challenges)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IN" sz="1200" dirty="0"/>
              <a:t> </a:t>
            </a:r>
            <a:r>
              <a:rPr lang="en-IN" sz="1200" b="1" dirty="0"/>
              <a:t>Limited Resource Integration</a:t>
            </a:r>
            <a:r>
              <a:rPr lang="en-IN" sz="1200" dirty="0"/>
              <a:t>: Some projects rely on a narrower combination of energy sources, leaving opportunities to evaluate other locally available renewable resources.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IN" sz="1200" b="1" dirty="0"/>
              <a:t>Seasonal Energy Reliability: </a:t>
            </a:r>
            <a:r>
              <a:rPr lang="en-IN" sz="1200" dirty="0"/>
              <a:t>Solar, hydro, and biomass availability can vary seasonally, making continuous electricity supply challenging.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5"/>
                </a:solidFill>
              </a:rPr>
              <a:t>TEAM</a:t>
            </a:r>
          </a:p>
          <a:p>
            <a:pPr marL="0" indent="0">
              <a:buNone/>
            </a:pPr>
            <a:r>
              <a:rPr lang="en-US" sz="1400" b="1" kern="0" spc="300" dirty="0">
                <a:solidFill>
                  <a:schemeClr val="accent5"/>
                </a:solidFill>
              </a:rPr>
              <a:t>HUSTLERS</a:t>
            </a:r>
            <a:endParaRPr lang="en-US" sz="14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Resources required to solve the problem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2333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HARDWARE REQUIREMENTS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IN" sz="1400" b="1" dirty="0"/>
              <a:t>Solar PV panels - </a:t>
            </a:r>
            <a:r>
              <a:rPr lang="en-IN" sz="1400" dirty="0"/>
              <a:t>Generate electricity from sunlight.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IN" sz="1200" b="1" dirty="0"/>
              <a:t>Micro-hydro turbine and generator - </a:t>
            </a:r>
            <a:r>
              <a:rPr lang="en-IN" sz="1200" dirty="0"/>
              <a:t>Generate electricity from flowing water, if the water flow and available pressure or height difference are sufficient.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IN" sz="1400" b="1" dirty="0"/>
              <a:t>Biodiesel generator </a:t>
            </a:r>
            <a:r>
              <a:rPr lang="en-IN" sz="1200" b="1" dirty="0"/>
              <a:t>- </a:t>
            </a:r>
            <a:r>
              <a:rPr lang="en-IN" sz="1200" dirty="0"/>
              <a:t>Provide backup electricity when renewable generation is insufficient.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IN" sz="1400" b="1" dirty="0"/>
              <a:t>Battery storage system - </a:t>
            </a:r>
            <a:r>
              <a:rPr lang="en-IN" sz="1200" dirty="0"/>
              <a:t>Store excess electricity for use at night or during outages.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IN" sz="1400" b="1" dirty="0"/>
              <a:t>Charge controller and inverter </a:t>
            </a:r>
            <a:r>
              <a:rPr lang="en-IN" sz="1200" b="1" dirty="0"/>
              <a:t>- </a:t>
            </a:r>
            <a:r>
              <a:rPr lang="en-IN" sz="1200" dirty="0"/>
              <a:t>Regulate battery charging and convert DC electricity into AC power where required.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IN" sz="1400" b="1" dirty="0"/>
              <a:t>Distribution equipment - </a:t>
            </a:r>
            <a:r>
              <a:rPr lang="en-IN" sz="1200" dirty="0"/>
              <a:t>Cables, transformers where needed, circuit breakers, fuses, and meters to deliver electricity safely.</a:t>
            </a:r>
            <a:endParaRPr lang="en-US" sz="1200" b="1" dirty="0">
              <a:solidFill>
                <a:schemeClr val="tx1"/>
              </a:solidFill>
            </a:endParaRP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b="1" dirty="0"/>
              <a:t>SOFTWARE REQUIREMENTS 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200" b="1" dirty="0"/>
              <a:t>MATLAB/Simulink-</a:t>
            </a:r>
            <a:r>
              <a:rPr lang="en-US" sz="1200" dirty="0"/>
              <a:t>Simulate solar, hydro, biogas, battery storage, and overall microgrid performance.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200" b="1" dirty="0"/>
              <a:t>HOMER Pro-</a:t>
            </a:r>
            <a:r>
              <a:rPr lang="en-US" sz="1200" dirty="0"/>
              <a:t>Optimize energy sources, system sizing, operating costs, and feasibility.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b="1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Other resources (Including Human Resources)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Your Team Name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Your Expected Outcome?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777239" y="1980589"/>
            <a:ext cx="10711375" cy="4123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Clr>
                <a:schemeClr val="accent1"/>
              </a:buClr>
              <a:buSzPct val="100000"/>
              <a:buAutoNum type="arabicPeriod"/>
            </a:pPr>
            <a:r>
              <a:rPr lang="en-US" dirty="0"/>
              <a:t>What Our Team Intends to Do- Develop an integrated renewable microgrid combining solar, micro-hydro, biogas, and biodiesel backup.- Implement smart energy management with battery storage.- Explore electricity generation from existing low-pressure water flow.- Design an affordable and sustainable solution for rural electrification. </a:t>
            </a:r>
          </a:p>
          <a:p>
            <a:pPr marL="342900" indent="-342900">
              <a:spcAft>
                <a:spcPts val="1000"/>
              </a:spcAft>
              <a:buClr>
                <a:schemeClr val="accent1"/>
              </a:buClr>
              <a:buSzPct val="100000"/>
              <a:buAutoNum type="arabicPeriod"/>
            </a:pPr>
            <a:r>
              <a:rPr lang="en-US" dirty="0"/>
              <a:t>What We Want to Improve- Reduce frequent power outages and dependence on diesel generators.- Improve coordination and efficiency of multiple renewable energy sources.- Optimize battery usage and minimize energy wastage.- Reduce operating costs and improve electricity reliability.</a:t>
            </a:r>
          </a:p>
          <a:p>
            <a:pPr marL="342900" indent="-342900">
              <a:spcAft>
                <a:spcPts val="1000"/>
              </a:spcAft>
              <a:buClr>
                <a:schemeClr val="accent1"/>
              </a:buClr>
              <a:buSzPct val="100000"/>
              <a:buAutoNum type="arabicPeriod"/>
            </a:pPr>
            <a:r>
              <a:rPr lang="en-US" dirty="0"/>
              <a:t>3. What Successful Improvement Should Achieve- Provide a more reliable and continuous electricity supply to villages.- Reduce fuel consumption and long-term energy costs.- Improve access to electricity for agriculture, education, healthcare, and businesses.- Develop a scalable, environmentally sustainable microgrid model for rural communities.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Your Team Name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Who will handle which part of the execution</a:t>
            </a:r>
            <a:endParaRPr lang="en-US" sz="1800" dirty="0"/>
          </a:p>
        </p:txBody>
      </p:sp>
      <p:graphicFrame>
        <p:nvGraphicFramePr>
          <p:cNvPr id="10" name="Team Contribu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858955"/>
              </p:ext>
            </p:extLst>
          </p:nvPr>
        </p:nvGraphicFramePr>
        <p:xfrm>
          <a:off x="548640" y="2194560"/>
          <a:ext cx="11094415" cy="34747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 in Execution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R K PRANESH</a:t>
                      </a: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4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will handle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M R NITISHWAR</a:t>
                      </a: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will handle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S Gautham</a:t>
                      </a: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will handle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latin typeface="Calibri" charset="0"/>
                          <a:ea typeface="Calibri" charset="0"/>
                          <a:cs typeface="Calibri" charset="0"/>
                        </a:rPr>
                        <a:t>N M PRAGADEESH</a:t>
                      </a: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will handle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1584</Words>
  <Application>Microsoft Office PowerPoint</Application>
  <PresentationFormat>Widescreen</PresentationFormat>
  <Paragraphs>182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Genesis Ideathon</vt:lpstr>
      <vt:lpstr>PowerPoint Presentation</vt:lpstr>
      <vt:lpstr>DOMAIN PROBLEM IN OUR WORDS</vt:lpstr>
      <vt:lpstr>WHO IS AFFECTED?</vt:lpstr>
      <vt:lpstr>CURRENT SITUATION &amp; CONTEXT</vt:lpstr>
      <vt:lpstr>PowerPoint Presentation</vt:lpstr>
      <vt:lpstr>KEY CHALLENGES</vt:lpstr>
      <vt:lpstr>Consequences of leaving them unsolved Unreliable Electricity: Frequent power cuts affect homes, schools, and healthcare centres. Economic Losses: Farmers and local businesses experience reduced productivity and income. Higher Energy Costs: Continued dependence on diesel and other fuels increases operating expenses. Limited Renewable Energy Use: Local resources remain underutilized, increasing pollution and environmental impacts. Slower Rural Development: Poor electricity access limits education, healthcare, job opportunities, and overall village development.  </vt:lpstr>
      <vt:lpstr>EXISTING SOLUTIONS / APPROACHES</vt:lpstr>
      <vt:lpstr>PROBLEM INSIGHTS &amp; OPPORTUNITY AREAS</vt:lpstr>
      <vt:lpstr>INITIAL DIRECTION &amp; EXPECTED OUTCOME</vt:lpstr>
      <vt:lpstr>TEAM CONTRIBUTION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gautham69822@outlook.com</cp:lastModifiedBy>
  <cp:revision>4</cp:revision>
  <dcterms:created xsi:type="dcterms:W3CDTF">2026-10-07T15:27:40Z</dcterms:created>
  <dcterms:modified xsi:type="dcterms:W3CDTF">2026-10-09T17:09:11Z</dcterms:modified>
</cp:coreProperties>
</file>